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8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 MASSEMIN" userId="34955a1b-8d14-443d-bee0-df0430b22199" providerId="ADAL" clId="{199EDEFB-5968-40D9-8C5F-47453D389C79}"/>
    <pc:docChg chg="undo custSel delSld modSld">
      <pc:chgData name="Laure MASSEMIN" userId="34955a1b-8d14-443d-bee0-df0430b22199" providerId="ADAL" clId="{199EDEFB-5968-40D9-8C5F-47453D389C79}" dt="2026-05-25T12:02:43.450" v="119" actId="20577"/>
      <pc:docMkLst>
        <pc:docMk/>
      </pc:docMkLst>
      <pc:sldChg chg="delSp modSp mod">
        <pc:chgData name="Laure MASSEMIN" userId="34955a1b-8d14-443d-bee0-df0430b22199" providerId="ADAL" clId="{199EDEFB-5968-40D9-8C5F-47453D389C79}" dt="2026-05-25T12:02:43.450" v="119" actId="20577"/>
        <pc:sldMkLst>
          <pc:docMk/>
          <pc:sldMk cId="0" sldId="256"/>
        </pc:sldMkLst>
        <pc:spChg chg="del">
          <ac:chgData name="Laure MASSEMIN" userId="34955a1b-8d14-443d-bee0-df0430b22199" providerId="ADAL" clId="{199EDEFB-5968-40D9-8C5F-47453D389C79}" dt="2026-05-25T12:00:12.340" v="2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Laure MASSEMIN" userId="34955a1b-8d14-443d-bee0-df0430b22199" providerId="ADAL" clId="{199EDEFB-5968-40D9-8C5F-47453D389C79}" dt="2026-05-25T12:02:27.408" v="11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Laure MASSEMIN" userId="34955a1b-8d14-443d-bee0-df0430b22199" providerId="ADAL" clId="{199EDEFB-5968-40D9-8C5F-47453D389C79}" dt="2026-05-25T12:00:06.746" v="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Laure MASSEMIN" userId="34955a1b-8d14-443d-bee0-df0430b22199" providerId="ADAL" clId="{199EDEFB-5968-40D9-8C5F-47453D389C79}" dt="2026-05-25T12:02:43.450" v="119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Laure MASSEMIN" userId="34955a1b-8d14-443d-bee0-df0430b22199" providerId="ADAL" clId="{199EDEFB-5968-40D9-8C5F-47453D389C79}" dt="2026-05-25T12:00:22.040" v="25" actId="20577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Laure MASSEMIN" userId="34955a1b-8d14-443d-bee0-df0430b22199" providerId="ADAL" clId="{199EDEFB-5968-40D9-8C5F-47453D389C79}" dt="2026-05-25T12:00:38.874" v="28"/>
        <pc:sldMkLst>
          <pc:docMk/>
          <pc:sldMk cId="0" sldId="257"/>
        </pc:sldMkLst>
        <pc:spChg chg="del mod">
          <ac:chgData name="Laure MASSEMIN" userId="34955a1b-8d14-443d-bee0-df0430b22199" providerId="ADAL" clId="{199EDEFB-5968-40D9-8C5F-47453D389C79}" dt="2026-05-25T12:00:38.874" v="28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Laure MASSEMIN" userId="34955a1b-8d14-443d-bee0-df0430b22199" providerId="ADAL" clId="{199EDEFB-5968-40D9-8C5F-47453D389C79}" dt="2026-05-25T12:00:48.231" v="49" actId="20577"/>
        <pc:sldMkLst>
          <pc:docMk/>
          <pc:sldMk cId="0" sldId="258"/>
        </pc:sldMkLst>
        <pc:spChg chg="mod">
          <ac:chgData name="Laure MASSEMIN" userId="34955a1b-8d14-443d-bee0-df0430b22199" providerId="ADAL" clId="{199EDEFB-5968-40D9-8C5F-47453D389C79}" dt="2026-05-25T12:00:48.231" v="49" actId="20577"/>
          <ac:spMkLst>
            <pc:docMk/>
            <pc:sldMk cId="0" sldId="258"/>
            <ac:spMk id="6" creationId="{00000000-0000-0000-0000-000000000000}"/>
          </ac:spMkLst>
        </pc:spChg>
      </pc:sldChg>
      <pc:sldChg chg="del">
        <pc:chgData name="Laure MASSEMIN" userId="34955a1b-8d14-443d-bee0-df0430b22199" providerId="ADAL" clId="{199EDEFB-5968-40D9-8C5F-47453D389C79}" dt="2026-05-25T12:01:22.032" v="50" actId="2696"/>
        <pc:sldMkLst>
          <pc:docMk/>
          <pc:sldMk cId="0" sldId="261"/>
        </pc:sldMkLst>
      </pc:sldChg>
      <pc:sldChg chg="del">
        <pc:chgData name="Laure MASSEMIN" userId="34955a1b-8d14-443d-bee0-df0430b22199" providerId="ADAL" clId="{199EDEFB-5968-40D9-8C5F-47453D389C79}" dt="2026-05-25T12:01:25.858" v="51" actId="2696"/>
        <pc:sldMkLst>
          <pc:docMk/>
          <pc:sldMk cId="0" sldId="262"/>
        </pc:sldMkLst>
      </pc:sldChg>
      <pc:sldChg chg="del">
        <pc:chgData name="Laure MASSEMIN" userId="34955a1b-8d14-443d-bee0-df0430b22199" providerId="ADAL" clId="{199EDEFB-5968-40D9-8C5F-47453D389C79}" dt="2026-05-25T12:01:28.493" v="52" actId="2696"/>
        <pc:sldMkLst>
          <pc:docMk/>
          <pc:sldMk cId="0" sldId="263"/>
        </pc:sldMkLst>
      </pc:sldChg>
      <pc:sldChg chg="del">
        <pc:chgData name="Laure MASSEMIN" userId="34955a1b-8d14-443d-bee0-df0430b22199" providerId="ADAL" clId="{199EDEFB-5968-40D9-8C5F-47453D389C79}" dt="2026-05-25T12:01:45.391" v="53" actId="2696"/>
        <pc:sldMkLst>
          <pc:docMk/>
          <pc:sldMk cId="0" sldId="267"/>
        </pc:sldMkLst>
      </pc:sldChg>
      <pc:sldChg chg="modSp mod">
        <pc:chgData name="Laure MASSEMIN" userId="34955a1b-8d14-443d-bee0-df0430b22199" providerId="ADAL" clId="{199EDEFB-5968-40D9-8C5F-47453D389C79}" dt="2026-05-25T12:02:04.403" v="75"/>
        <pc:sldMkLst>
          <pc:docMk/>
          <pc:sldMk cId="0" sldId="268"/>
        </pc:sldMkLst>
        <pc:spChg chg="mod">
          <ac:chgData name="Laure MASSEMIN" userId="34955a1b-8d14-443d-bee0-df0430b22199" providerId="ADAL" clId="{199EDEFB-5968-40D9-8C5F-47453D389C79}" dt="2026-05-25T12:01:50.504" v="54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Laure MASSEMIN" userId="34955a1b-8d14-443d-bee0-df0430b22199" providerId="ADAL" clId="{199EDEFB-5968-40D9-8C5F-47453D389C79}" dt="2026-05-25T12:02:04.403" v="75"/>
          <ac:spMkLst>
            <pc:docMk/>
            <pc:sldMk cId="0" sldId="268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5400" b="1" i="0" dirty="0">
                <a:solidFill>
                  <a:srgbClr val="FFD030"/>
                </a:solidFill>
              </a:rPr>
              <a:t>🍳  </a:t>
            </a:r>
            <a:r>
              <a:rPr lang="fr-FR" sz="5400" b="1" i="0" dirty="0" err="1">
                <a:solidFill>
                  <a:srgbClr val="FFD030"/>
                </a:solidFill>
              </a:rPr>
              <a:t>KitchenRush</a:t>
            </a:r>
            <a:endParaRPr sz="5400" b="1" i="0" dirty="0">
              <a:solidFill>
                <a:srgbClr val="FFD03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CC"/>
                </a:solidFill>
              </a:rPr>
              <a:t>Projet Jeu Vidéo — Semestre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rgbClr val="FFFFFF"/>
                </a:solidFill>
              </a:rPr>
              <a:t>Inspiré</a:t>
            </a:r>
            <a:r>
              <a:rPr sz="1800" b="0" i="0" dirty="0">
                <a:solidFill>
                  <a:srgbClr val="FFFFFF"/>
                </a:solidFill>
              </a:rPr>
              <a:t> de Overcooked  |  Unity </a:t>
            </a:r>
            <a:r>
              <a:rPr sz="1800" b="0" i="0">
                <a:solidFill>
                  <a:srgbClr val="FFFFFF"/>
                </a:solidFill>
              </a:rPr>
              <a:t>3D  </a:t>
            </a:r>
            <a:endParaRPr sz="1800" b="0" i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dirty="0">
                <a:solidFill>
                  <a:srgbClr val="CCCCCC"/>
                </a:solidFill>
              </a:rPr>
              <a:t>Laure MASSEMIN </a:t>
            </a:r>
            <a:r>
              <a:rPr sz="1400" b="0" i="0" dirty="0">
                <a:solidFill>
                  <a:srgbClr val="CCCCCC"/>
                </a:solidFill>
              </a:rPr>
              <a:t>•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D030"/>
                </a:solidFill>
              </a:rPr>
              <a:t>Résumé du jeu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94960" cy="50292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97A"/>
                </a:solidFill>
              </a:rPr>
              <a:t>Le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65960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Cuisine en temps limité style Overcooked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41448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350008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Préparer et livrer des recettes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25496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2734056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Solo — 1 </a:t>
            </a:r>
            <a:r>
              <a:rPr sz="1600" b="0" i="0" dirty="0" err="1">
                <a:solidFill>
                  <a:srgbClr val="FFFFFF"/>
                </a:solidFill>
              </a:rPr>
              <a:t>joueur</a:t>
            </a:r>
            <a:r>
              <a:rPr sz="1600" b="0" i="0" dirty="0">
                <a:solidFill>
                  <a:srgbClr val="FFFFFF"/>
                </a:solidFill>
              </a:rPr>
              <a:t> avec clavier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9544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118103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FFFFFF"/>
                </a:solidFill>
              </a:rPr>
              <a:t>Sélection</a:t>
            </a:r>
            <a:r>
              <a:rPr sz="1600" b="0" i="0" dirty="0">
                <a:solidFill>
                  <a:srgbClr val="FFFFFF"/>
                </a:solidFill>
              </a:rPr>
              <a:t> de </a:t>
            </a:r>
            <a:r>
              <a:rPr sz="1600" b="0" i="0" dirty="0" err="1">
                <a:solidFill>
                  <a:srgbClr val="FFFFFF"/>
                </a:solidFill>
              </a:rPr>
              <a:t>personnage</a:t>
            </a:r>
            <a:r>
              <a:rPr sz="1600" b="0" i="0" dirty="0">
                <a:solidFill>
                  <a:srgbClr val="FFFFFF"/>
                </a:solidFill>
              </a:rPr>
              <a:t> </a:t>
            </a:r>
            <a:r>
              <a:rPr sz="1600" b="0" i="0" dirty="0" err="1">
                <a:solidFill>
                  <a:srgbClr val="FFFFFF"/>
                </a:solidFill>
              </a:rPr>
              <a:t>avant</a:t>
            </a:r>
            <a:r>
              <a:rPr sz="1600" b="0" i="0" dirty="0">
                <a:solidFill>
                  <a:srgbClr val="FFFFFF"/>
                </a:solidFill>
              </a:rPr>
              <a:t> de </a:t>
            </a:r>
            <a:r>
              <a:rPr sz="1600" b="0" i="0" dirty="0" err="1">
                <a:solidFill>
                  <a:srgbClr val="FFFFFF"/>
                </a:solidFill>
              </a:rPr>
              <a:t>jouer</a:t>
            </a:r>
            <a:endParaRPr sz="1600" b="0" i="0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3593591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3502151"/>
            <a:ext cx="4736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FFFFFF"/>
                </a:solidFill>
              </a:rPr>
              <a:t>Tutoriel</a:t>
            </a:r>
            <a:r>
              <a:rPr sz="1600" b="0" i="0" dirty="0">
                <a:solidFill>
                  <a:srgbClr val="FFFFFF"/>
                </a:solidFill>
              </a:rPr>
              <a:t> </a:t>
            </a:r>
            <a:r>
              <a:rPr sz="1600" b="0" i="0" dirty="0" err="1">
                <a:solidFill>
                  <a:srgbClr val="FFFFFF"/>
                </a:solidFill>
              </a:rPr>
              <a:t>interactif</a:t>
            </a:r>
            <a:r>
              <a:rPr sz="1600" b="0" i="0" dirty="0">
                <a:solidFill>
                  <a:srgbClr val="FFFFFF"/>
                </a:solidFill>
              </a:rPr>
              <a:t> disponible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5669280" cy="50292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97A"/>
                </a:solidFill>
              </a:rPr>
              <a:t>Les 4 scènes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020824"/>
            <a:ext cx="4389120" cy="347472"/>
          </a:xfrm>
          <a:prstGeom prst="rect">
            <a:avLst/>
          </a:prstGeom>
          <a:solidFill>
            <a:srgbClr val="1A3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02082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🏠 Menu  Accueil + sélection du personnage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523744"/>
            <a:ext cx="4389120" cy="347472"/>
          </a:xfrm>
          <a:prstGeom prst="rect">
            <a:avLst/>
          </a:prstGeom>
          <a:solidFill>
            <a:srgbClr val="1A3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52374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📖 Tutoriel  Apprentissage des commandes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026664"/>
            <a:ext cx="4389120" cy="347472"/>
          </a:xfrm>
          <a:prstGeom prst="rect">
            <a:avLst/>
          </a:prstGeom>
          <a:solidFill>
            <a:srgbClr val="1A3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02666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</a:rPr>
              <a:t>🍋 </a:t>
            </a:r>
            <a:r>
              <a:rPr sz="1500" b="0" i="0" dirty="0" err="1">
                <a:solidFill>
                  <a:srgbClr val="FFFFFF"/>
                </a:solidFill>
              </a:rPr>
              <a:t>Niveau</a:t>
            </a:r>
            <a:r>
              <a:rPr sz="1500" b="0" i="0" dirty="0">
                <a:solidFill>
                  <a:srgbClr val="FFFFFF"/>
                </a:solidFill>
              </a:rPr>
              <a:t> 1  </a:t>
            </a:r>
            <a:r>
              <a:rPr sz="1500" b="0" i="0" dirty="0" err="1">
                <a:solidFill>
                  <a:srgbClr val="FFFFFF"/>
                </a:solidFill>
              </a:rPr>
              <a:t>Recettes</a:t>
            </a:r>
            <a:r>
              <a:rPr sz="1500" b="0" i="0" dirty="0">
                <a:solidFill>
                  <a:srgbClr val="FFFFFF"/>
                </a:solidFill>
              </a:rPr>
              <a:t> de </a:t>
            </a:r>
            <a:r>
              <a:rPr sz="1500" b="0" i="0" dirty="0" err="1">
                <a:solidFill>
                  <a:srgbClr val="FFFFFF"/>
                </a:solidFill>
              </a:rPr>
              <a:t>salade</a:t>
            </a:r>
            <a:r>
              <a:rPr sz="1500" b="0" i="0" dirty="0">
                <a:solidFill>
                  <a:srgbClr val="FFFFFF"/>
                </a:solidFill>
              </a:rPr>
              <a:t> (2 </a:t>
            </a:r>
            <a:r>
              <a:rPr sz="1500" b="0" i="0" dirty="0" err="1">
                <a:solidFill>
                  <a:srgbClr val="FFFFFF"/>
                </a:solidFill>
              </a:rPr>
              <a:t>recettes</a:t>
            </a:r>
            <a:r>
              <a:rPr sz="1500" b="0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529584"/>
            <a:ext cx="4389120" cy="347472"/>
          </a:xfrm>
          <a:prstGeom prst="rect">
            <a:avLst/>
          </a:prstGeom>
          <a:solidFill>
            <a:srgbClr val="1A3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52958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</a:rPr>
              <a:t>🍔 </a:t>
            </a:r>
            <a:r>
              <a:rPr sz="1500" b="0" i="0" dirty="0" err="1">
                <a:solidFill>
                  <a:srgbClr val="FFFFFF"/>
                </a:solidFill>
              </a:rPr>
              <a:t>Niveau</a:t>
            </a:r>
            <a:r>
              <a:rPr sz="1500" b="0" i="0" dirty="0">
                <a:solidFill>
                  <a:srgbClr val="FFFFFF"/>
                </a:solidFill>
              </a:rPr>
              <a:t> 2  </a:t>
            </a:r>
            <a:r>
              <a:rPr sz="1500" b="0" i="0" dirty="0" err="1">
                <a:solidFill>
                  <a:srgbClr val="FFFFFF"/>
                </a:solidFill>
              </a:rPr>
              <a:t>Recettes</a:t>
            </a:r>
            <a:r>
              <a:rPr sz="1500" b="0" i="0" dirty="0">
                <a:solidFill>
                  <a:srgbClr val="FFFFFF"/>
                </a:solidFill>
              </a:rPr>
              <a:t> de burger (3 </a:t>
            </a:r>
            <a:r>
              <a:rPr sz="1500" b="0" i="0" dirty="0" err="1">
                <a:solidFill>
                  <a:srgbClr val="FFFFFF"/>
                </a:solidFill>
              </a:rPr>
              <a:t>recettes</a:t>
            </a:r>
            <a:r>
              <a:rPr sz="1500" b="0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030"/>
                </a:solidFill>
              </a:rPr>
              <a:t>But du jeu &amp; Conditions de victoire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12880" cy="100584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🎯  </a:t>
            </a:r>
            <a:r>
              <a:rPr sz="2000" b="1" i="0" dirty="0" err="1">
                <a:solidFill>
                  <a:srgbClr val="FFFFFF"/>
                </a:solidFill>
              </a:rPr>
              <a:t>Livrer</a:t>
            </a:r>
            <a:r>
              <a:rPr sz="2000" b="1" i="0" dirty="0">
                <a:solidFill>
                  <a:srgbClr val="FFFFFF"/>
                </a:solidFill>
              </a:rPr>
              <a:t> un maximum de </a:t>
            </a:r>
            <a:r>
              <a:rPr sz="2000" b="1" i="0" dirty="0" err="1">
                <a:solidFill>
                  <a:srgbClr val="FFFFFF"/>
                </a:solidFill>
              </a:rPr>
              <a:t>recettes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sz="2000" b="1" i="0" dirty="0" err="1">
                <a:solidFill>
                  <a:srgbClr val="FFFFFF"/>
                </a:solidFill>
              </a:rPr>
              <a:t>en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lang="fr-FR" sz="2000" b="1" dirty="0">
                <a:solidFill>
                  <a:srgbClr val="FFFFFF"/>
                </a:solidFill>
              </a:rPr>
              <a:t>un temps donnée </a:t>
            </a:r>
            <a:r>
              <a:rPr sz="2000" b="1" i="0" dirty="0">
                <a:solidFill>
                  <a:srgbClr val="FFFFFF"/>
                </a:solidFill>
              </a:rPr>
              <a:t>pour </a:t>
            </a:r>
            <a:r>
              <a:rPr sz="2000" b="1" i="0" dirty="0" err="1">
                <a:solidFill>
                  <a:srgbClr val="FFFFFF"/>
                </a:solidFill>
              </a:rPr>
              <a:t>atteindre</a:t>
            </a:r>
            <a:r>
              <a:rPr sz="2000" b="1" i="0" dirty="0">
                <a:solidFill>
                  <a:srgbClr val="FFFFFF"/>
                </a:solidFill>
              </a:rPr>
              <a:t> 30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14600"/>
            <a:ext cx="5486400" cy="1920240"/>
          </a:xfrm>
          <a:prstGeom prst="rect">
            <a:avLst/>
          </a:prstGeom>
          <a:solidFill>
            <a:srgbClr val="1A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✅  VICTOIRE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CCCCCC"/>
                </a:solidFill>
              </a:rPr>
              <a:t>Score ≥ 30 → </a:t>
            </a:r>
            <a:r>
              <a:rPr sz="1700" b="0" i="0" dirty="0" err="1">
                <a:solidFill>
                  <a:srgbClr val="CCCCCC"/>
                </a:solidFill>
              </a:rPr>
              <a:t>niveau</a:t>
            </a:r>
            <a:r>
              <a:rPr sz="1700" b="0" i="0" dirty="0">
                <a:solidFill>
                  <a:srgbClr val="CCCCCC"/>
                </a:solidFill>
              </a:rPr>
              <a:t> </a:t>
            </a:r>
            <a:r>
              <a:rPr sz="1700" b="0" i="0" dirty="0" err="1">
                <a:solidFill>
                  <a:srgbClr val="CCCCCC"/>
                </a:solidFill>
              </a:rPr>
              <a:t>suivant</a:t>
            </a:r>
            <a:endParaRPr sz="1700" b="0" i="0" dirty="0">
              <a:solidFill>
                <a:srgbClr val="CCCCC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80760" y="2514600"/>
            <a:ext cx="5486400" cy="1920240"/>
          </a:xfrm>
          <a:prstGeom prst="rect">
            <a:avLst/>
          </a:prstGeom>
          <a:solidFill>
            <a:srgbClr val="7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❌  DÉFAITE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54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Temps écoulé, score &lt;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63440"/>
            <a:ext cx="11612880" cy="192024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736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97A"/>
                </a:solidFill>
              </a:rPr>
              <a:t>Système de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🟢  +10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96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Recette livrée correctement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212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🔴  −2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596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Mauvaise assiette livrée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212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🟠  −5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596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Recette expirée sans 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030"/>
                </a:solidFill>
              </a:rPr>
              <a:t>Mécanismes de jeu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Comment se déroule une partie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743200" cy="32004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1463040"/>
            <a:ext cx="1005840" cy="7315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4630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E1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030"/>
                </a:solidFill>
              </a:rPr>
              <a:t>Spawn recette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Toutes les 4s, une nouvelle commande
apparaît (max 4 en attente)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25880"/>
            <a:ext cx="2743200" cy="32004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0" y="1463040"/>
            <a:ext cx="1005840" cy="7315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14630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E1C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030"/>
                </a:solidFill>
              </a:rPr>
              <a:t>Préparer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Découper (F), cuire sur la plaque,
assembler sur une assiette (E)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2743200" cy="32004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6600" y="1463040"/>
            <a:ext cx="1005840" cy="7315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14630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E1C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030"/>
                </a:solidFill>
              </a:rPr>
              <a:t>Livrer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Apporter l'assiette au comptoir
de livraison avant expiration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325880"/>
            <a:ext cx="2743200" cy="32004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058400" y="1463040"/>
            <a:ext cx="1005840" cy="7315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0" y="14630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E1C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030"/>
                </a:solidFill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+10 si correct, −2 si mauvaise
assiette, −5 si expirée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09160"/>
            <a:ext cx="11612880" cy="1051560"/>
          </a:xfrm>
          <a:prstGeom prst="rect">
            <a:avLst/>
          </a:prstGeom>
          <a:solidFill>
            <a:srgbClr val="4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920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D030"/>
                </a:solidFill>
              </a:rPr>
              <a:t>⚠️  Alerte à 20 secondes : le timer passe en rouge + son d'alerte joué une seule fois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D030"/>
                </a:solidFill>
              </a:rPr>
              <a:t>UX — </a:t>
            </a:r>
            <a:r>
              <a:rPr sz="3600" b="1" i="0" dirty="0" err="1">
                <a:solidFill>
                  <a:srgbClr val="FFD030"/>
                </a:solidFill>
              </a:rPr>
              <a:t>Contrôles</a:t>
            </a:r>
            <a:endParaRPr sz="3600" b="1" i="0" dirty="0">
              <a:solidFill>
                <a:srgbClr val="FFD03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Touches et logique contextuelle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200400" cy="47548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1C"/>
                </a:solidFill>
              </a:rPr>
              <a:t>Touche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371600"/>
            <a:ext cx="8046720" cy="47548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608" y="144475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1C"/>
                </a:solidFill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47088"/>
            <a:ext cx="320040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9202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Z Q S D  ou  ↑ ↓ ←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847088"/>
            <a:ext cx="804672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92024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Déplacer le personnage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50008"/>
            <a:ext cx="3200400" cy="502920"/>
          </a:xfrm>
          <a:prstGeom prst="rect">
            <a:avLst/>
          </a:prstGeom>
          <a:solidFill>
            <a:srgbClr val="1E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4231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350008"/>
            <a:ext cx="8046720" cy="502920"/>
          </a:xfrm>
          <a:prstGeom prst="rect">
            <a:avLst/>
          </a:prstGeom>
          <a:solidFill>
            <a:srgbClr val="1E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21608" y="242316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Ramasser / Poser / Livrer (contextuel)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52928"/>
            <a:ext cx="320040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9260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2852928"/>
            <a:ext cx="804672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608" y="292608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Couper l'ingrédient (plusieurs appuis nécessaires)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11612880" cy="283464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4CD97A"/>
                </a:solidFill>
              </a:rPr>
              <a:t>La </a:t>
            </a:r>
            <a:r>
              <a:rPr sz="1700" b="1" i="0" dirty="0" err="1">
                <a:solidFill>
                  <a:srgbClr val="4CD97A"/>
                </a:solidFill>
              </a:rPr>
              <a:t>touche</a:t>
            </a:r>
            <a:r>
              <a:rPr sz="1700" b="1" i="0" dirty="0">
                <a:solidFill>
                  <a:srgbClr val="4CD97A"/>
                </a:solidFill>
              </a:rPr>
              <a:t> E </a:t>
            </a:r>
            <a:r>
              <a:rPr sz="1700" b="1" i="0" dirty="0" err="1">
                <a:solidFill>
                  <a:srgbClr val="4CD97A"/>
                </a:solidFill>
              </a:rPr>
              <a:t>est</a:t>
            </a:r>
            <a:r>
              <a:rPr sz="1700" b="1" i="0" dirty="0">
                <a:solidFill>
                  <a:srgbClr val="4CD97A"/>
                </a:solidFill>
              </a:rPr>
              <a:t> </a:t>
            </a:r>
            <a:r>
              <a:rPr sz="1700" b="1" i="0" dirty="0" err="1">
                <a:solidFill>
                  <a:srgbClr val="4CD97A"/>
                </a:solidFill>
              </a:rPr>
              <a:t>contextuelle</a:t>
            </a:r>
            <a:r>
              <a:rPr sz="1700" b="1" i="0" dirty="0">
                <a:solidFill>
                  <a:srgbClr val="4CD97A"/>
                </a:solidFill>
              </a:rPr>
              <a:t> 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886200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3794760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Joueur porte qqch  +  comptoir vide      →  Pose l'objet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33672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142232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Joueur porte qqch  +  assiette visible   →  Ajoute l'ingrédient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581144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4489704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Joueur porte qqch  +  comptoir livraison →  Livre l'assiette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28616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" y="4837176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Joueur porte qqch  +  poubelle           →  Jette l'objet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76088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5184648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Joueur a les mains libres  +  comptoir avec objet  →  Ramasse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23559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" y="5532120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Joueur a les mains libres  +  distributeur         →  Prend un 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030"/>
                </a:solidFill>
              </a:rPr>
              <a:t>Architecture — Hiérarchie des comptoirs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Héritage et polymorphisme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371600"/>
            <a:ext cx="3200400" cy="59436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2E1C"/>
                </a:solidFill>
              </a:rPr>
              <a:t>BaseCounter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210312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A"/>
                </a:solidFill>
              </a:rPr>
              <a:t>CuttingCounter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2103120" cy="822960"/>
          </a:xfrm>
          <a:prstGeom prst="rect">
            <a:avLst/>
          </a:prstGeom>
          <a:solidFill>
            <a:srgbClr val="18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Découpe en N coups
Barre de progression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560320"/>
            <a:ext cx="210312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39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A"/>
                </a:solidFill>
              </a:rPr>
              <a:t>StoveCounter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3154680"/>
            <a:ext cx="2103120" cy="822960"/>
          </a:xfrm>
          <a:prstGeom prst="rect">
            <a:avLst/>
          </a:prstGeom>
          <a:solidFill>
            <a:srgbClr val="18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33472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Machine à états
Cru / Cuit / Brûlé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560320"/>
            <a:ext cx="210312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A"/>
                </a:solidFill>
              </a:rPr>
              <a:t>ContainerCounter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154680"/>
            <a:ext cx="2103120" cy="822960"/>
          </a:xfrm>
          <a:prstGeom prst="rect">
            <a:avLst/>
          </a:prstGeom>
          <a:solidFill>
            <a:srgbClr val="18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9472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Distributeur infini
d'un ingrédient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560320"/>
            <a:ext cx="210312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A"/>
                </a:solidFill>
              </a:rPr>
              <a:t>PlatesCounter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154680"/>
            <a:ext cx="2103120" cy="822960"/>
          </a:xfrm>
          <a:prstGeom prst="rect">
            <a:avLst/>
          </a:prstGeom>
          <a:solidFill>
            <a:srgbClr val="18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05472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Distributeur
d'assiettes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560320"/>
            <a:ext cx="210312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A"/>
                </a:solidFill>
              </a:rPr>
              <a:t>DeliveryCounter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3154680"/>
            <a:ext cx="2103120" cy="822960"/>
          </a:xfrm>
          <a:prstGeom prst="rect">
            <a:avLst/>
          </a:prstGeom>
          <a:solidFill>
            <a:srgbClr val="18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91472" y="3200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Valide et livre
la recette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06240"/>
            <a:ext cx="11612880" cy="11887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030"/>
                </a:solidFill>
              </a:rPr>
              <a:t>Interface  IHasProgress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36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CuttingCounter et StoveCounter l'implémentent → event OnProgressChanged(float)
ProgressBarUI s'y abonne sans savoir si elle est au-dessus d'une planche ou d'une plaque.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030"/>
                </a:solidFill>
              </a:rPr>
              <a:t>Design Patterns utilisés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Singleton · ScriptableObjects · Événements C#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49039" cy="516636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749039" cy="73152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030"/>
                </a:solidFill>
              </a:rPr>
              <a:t>🔒 Singleton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933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CD97A"/>
                </a:solidFill>
              </a:rPr>
              <a:t>GameManager, PlayerController, AudioManager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42032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Rend le composant accessible depuis n'importe quel
script sans référence directe dans l'Inspector.
→ AudioManager.Instance?.PlayCuttingSound()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749039" cy="516636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749039" cy="73152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417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030"/>
                </a:solidFill>
              </a:rPr>
              <a:t>📦 ScriptableObjects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933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CD97A"/>
                </a:solidFill>
              </a:rPr>
              <a:t>SO_Recipe, SO_KitchenObject, SO_CuttingRecipe…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42032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Sépare les données du comportement.
Ajouter une recette = créer un asset, pas de code.
→ Partagés entre scènes, éditables dans l'Inspector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25880"/>
            <a:ext cx="3749039" cy="516636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749039" cy="73152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417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030"/>
                </a:solidFill>
              </a:rPr>
              <a:t>📡 Événements C# (Action)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933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CD97A"/>
                </a:solidFill>
              </a:rPr>
              <a:t>OnRecipeCompleted, OnGameOver, OnSelectedCounterChanged…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542032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Couplage faible : DeliveryManager ne connaît pas
l'UI ni l'AudioManager. Il publie, ils écoutent.
→ Facile d'ajouter un abonné sans modifier l'émetteur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030"/>
                </a:solidFill>
              </a:rPr>
              <a:t>Niveau 1 vs Niveau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Même architecture, données différentes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560320" cy="50292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26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0" y="1371600"/>
            <a:ext cx="4389120" cy="5029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426464"/>
            <a:ext cx="425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E1C"/>
                </a:solidFill>
              </a:rPr>
              <a:t>Niveau 1 — Salade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371600"/>
            <a:ext cx="4389120" cy="5029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1426464"/>
            <a:ext cx="425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E1C"/>
                </a:solidFill>
              </a:rPr>
              <a:t>Niveau 2 — Burger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2560320" cy="6858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2938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Recettes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1874519"/>
            <a:ext cx="4389120" cy="6858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1929384"/>
            <a:ext cx="42519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Salade simple
Salade + Tomates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874519"/>
            <a:ext cx="4389120" cy="6858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1929384"/>
            <a:ext cx="42519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Burger Simple
Cheese Burger
Burger Complet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0320"/>
            <a:ext cx="2560320" cy="685800"/>
          </a:xfrm>
          <a:prstGeom prst="rect">
            <a:avLst/>
          </a:prstGeom>
          <a:solidFill>
            <a:srgbClr val="1E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61518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Ingrédients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560320"/>
            <a:ext cx="4389120" cy="685800"/>
          </a:xfrm>
          <a:prstGeom prst="rect">
            <a:avLst/>
          </a:prstGeom>
          <a:solidFill>
            <a:srgbClr val="1E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17520" y="2615184"/>
            <a:ext cx="42519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Salade (couper)
Tomate (couper)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2560320"/>
            <a:ext cx="4389120" cy="685800"/>
          </a:xfrm>
          <a:prstGeom prst="rect">
            <a:avLst/>
          </a:prstGeom>
          <a:solidFill>
            <a:srgbClr val="1E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2615184"/>
            <a:ext cx="42519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Steak (cuire)
Tomate, Fromage, Chou (couper)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46120"/>
            <a:ext cx="2560320" cy="6858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30098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Difficulté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246120"/>
            <a:ext cx="4389120" cy="6858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0" y="3300984"/>
            <a:ext cx="42519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1–2 ingrédients
Aucune cuisson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3246120"/>
            <a:ext cx="4389120" cy="685800"/>
          </a:xfrm>
          <a:prstGeom prst="rect">
            <a:avLst/>
          </a:prstGeom>
          <a:solidFill>
            <a:srgbClr val="22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3300984"/>
            <a:ext cx="42519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3–5 ingrédients
Steak peut brûler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31920"/>
            <a:ext cx="2560320" cy="822960"/>
          </a:xfrm>
          <a:prstGeom prst="rect">
            <a:avLst/>
          </a:prstGeom>
          <a:solidFill>
            <a:srgbClr val="1E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986783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Ce qui change
dans le 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931920"/>
            <a:ext cx="4389120" cy="822960"/>
          </a:xfrm>
          <a:prstGeom prst="rect">
            <a:avLst/>
          </a:prstGeom>
          <a:solidFill>
            <a:srgbClr val="1E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17520" y="3986783"/>
            <a:ext cx="4251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Liste SO_Recipe
dans l'Inspector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3931920"/>
            <a:ext cx="4389120" cy="822960"/>
          </a:xfrm>
          <a:prstGeom prst="rect">
            <a:avLst/>
          </a:prstGeom>
          <a:solidFill>
            <a:srgbClr val="1E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43800" y="3986783"/>
            <a:ext cx="4251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Même liste, assets différents
Zéro ligne de code modifiée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D030"/>
                </a:solidFill>
              </a:rPr>
              <a:t>Merci pour votre attention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>
                <a:solidFill>
                  <a:srgbClr val="FFFFFF"/>
                </a:solidFill>
              </a:rPr>
              <a:t>Place à la </a:t>
            </a:r>
            <a:r>
              <a:rPr sz="2800" b="0" i="0" dirty="0" err="1">
                <a:solidFill>
                  <a:srgbClr val="FFFFFF"/>
                </a:solidFill>
              </a:rPr>
              <a:t>démo</a:t>
            </a:r>
            <a:r>
              <a:rPr sz="2800" b="0" i="0" dirty="0">
                <a:solidFill>
                  <a:srgbClr val="FFFFFF"/>
                </a:solidFill>
              </a:rPr>
              <a:t>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11247120" cy="45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3337560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246120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2 niveaux jouables  •  Tutoriel  •  Sélection de personnage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9623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758183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Système de score et timer en temps réel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61688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4270248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Design patterns : Singleton, ScriptableObjects, Événements C#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73752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4782312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Système audio complet (musique + SFX contextuels)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85816"/>
            <a:ext cx="109728" cy="10972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5294376"/>
            <a:ext cx="109545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Feedback visuel des comptoirs (pulsation verte)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CCCCCC"/>
                </a:solidFill>
              </a:rPr>
              <a:t>GitHub : </a:t>
            </a:r>
            <a:r>
              <a:rPr lang="fr-FR" sz="1300" b="0" i="1" dirty="0">
                <a:solidFill>
                  <a:srgbClr val="CCCCCC"/>
                </a:solidFill>
              </a:rPr>
              <a:t>https://github.com/laureMassemin/KitchenRush</a:t>
            </a:r>
            <a:endParaRPr sz="1300" b="0" i="1" dirty="0">
              <a:solidFill>
                <a:srgbClr val="CCCCCC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717</Words>
  <Application>Microsoft Office PowerPoint</Application>
  <PresentationFormat>Personnalisé</PresentationFormat>
  <Paragraphs>119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Laure MASSEMIN</cp:lastModifiedBy>
  <cp:revision>1</cp:revision>
  <dcterms:created xsi:type="dcterms:W3CDTF">2013-01-27T09:14:16Z</dcterms:created>
  <dcterms:modified xsi:type="dcterms:W3CDTF">2026-05-25T12:02:44Z</dcterms:modified>
  <cp:category/>
</cp:coreProperties>
</file>